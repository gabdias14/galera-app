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B1030"/>
                </a:solidFill>
                <a:latin typeface="Cambria"/>
              </a:defRPr>
            </a:pPr>
            <a:r>
              <a:rPr sz="1400" b="0" i="0" u="none" strike="noStrike">
                <a:solidFill>
                  <a:srgbClr val="1B1030"/>
                </a:solidFill>
                <a:latin typeface="Cambria"/>
              </a:rPr>
              <a:t>MRR total no mês 12, por cenário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MRR total (mês 12, R$)</c:v>
                </c:pt>
              </c:strCache>
            </c:strRef>
          </c:tx>
          <c:spPr>
            <a:solidFill>
              <a:srgbClr val="FF5A72"/>
            </a:solidFill>
            <a:effectLst/>
          </c:spPr>
          <c:invertIfNegative val="0"/>
          <c:dLbls>
            <c:numFmt formatCode="&quot;R$&quot;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103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FF5A72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8B6FF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9D398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Conservador</c:v>
                  </c:pt>
                  <c:pt idx="1">
                    <c:v>Base</c:v>
                  </c:pt>
                  <c:pt idx="2">
                    <c:v>Otimista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1530</c:v>
                </c:pt>
                <c:pt idx="1">
                  <c:v>5700</c:v>
                </c:pt>
                <c:pt idx="2">
                  <c:v>14900</c:v>
                </c:pt>
              </c:numCache>
            </c:numRef>
          </c:val>
        </c:ser>
        <c:dLbls>
          <c:numFmt formatCode="&quot;R$&quot;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B103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647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4E0F0"/>
              </a:solidFill>
              <a:prstDash val="solid"/>
              <a:round/>
            </a:ln>
          </c:spPr>
        </c:majorGridlines>
        <c:numFmt formatCode="&quot;R$&quot;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64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Capa. A tese em uma frase (business-plan.md §1): todo mundo que vende software de portaria compra tráfego pra achar produtora; o Galera ganha o convidado de graça pelo Recap e depois vende a camada Pro pra quem já tem o próprio público dentro do app.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business-plan.md §2 — O problema.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business-plan.md §3 — Produto: o que já existe.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marketing-plan.md §1-2 e business-plan.md §3 (src/lib/audience.ts).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business-plan.md §4 — Mercado.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business-plan.md §5 — Concorrência.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business-plan.md §6 — Modelo de receita.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business-plan.md §7 — Unit economics.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business-plan.md §12 — Marcos. Captação só faz sentido depois do marco do mês 6 (docs/startup/captacao.md).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business-plan.md §8 — Projeções (12 meses). Direcionadores explícitos marcados como suposição no documento fonte.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fundador solo — o pedido de captação (próximo slide) é justamente pra contratar a primeira peça comercial.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docs/startup/captacao.md §1-3 — a rodada enxuta calibrada pelo custo fixo real do negócio, não um número redondo.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0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645920"/>
            <a:ext cx="4572000" cy="4572000"/>
          </a:xfrm>
          <a:prstGeom prst="ellipse">
            <a:avLst/>
          </a:prstGeom>
          <a:solidFill>
            <a:srgbClr val="FF5A72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082735" y="3931920"/>
            <a:ext cx="5029200" cy="5029200"/>
          </a:xfrm>
          <a:prstGeom prst="ellipse">
            <a:avLst/>
          </a:prstGeom>
          <a:solidFill>
            <a:srgbClr val="8B6FF0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822960"/>
            <a:ext cx="777240" cy="777240"/>
          </a:xfrm>
          <a:prstGeom prst="ellipse">
            <a:avLst/>
          </a:prstGeom>
          <a:solidFill>
            <a:srgbClr val="FF5A72"/>
          </a:solidFill>
          <a:ln/>
        </p:spPr>
      </p:sp>
      <p:pic>
        <p:nvPicPr>
          <p:cNvPr id="5" name="Image 0" descr="/tmp/claude-0/-home-user-galera-app/c1dfc6eb-4bae-5544-82a6-63e27d7dd9c7/scratchpad/deck/icons/rock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1909" y="916229"/>
            <a:ext cx="590702" cy="59070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965960"/>
            <a:ext cx="9144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GALERA</a:t>
            </a:r>
            <a:endParaRPr lang="en-US" sz="6600" dirty="0"/>
          </a:p>
        </p:txBody>
      </p:sp>
      <p:sp>
        <p:nvSpPr>
          <p:cNvPr id="7" name="Text 4"/>
          <p:cNvSpPr/>
          <p:nvPr/>
        </p:nvSpPr>
        <p:spPr>
          <a:xfrm>
            <a:off x="548640" y="3246120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convite de rolê que vira motor de crescimento pra quem organiza como negócio.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548640" y="4343400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C9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B2C grátis para sempre</a:t>
            </a:r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cresce sozinho pelo Recap compartilhável  →  </a:t>
            </a:r>
            <a:pPr indent="0" marL="0">
              <a:buNone/>
            </a:pPr>
            <a:r>
              <a:rPr lang="en-US" sz="1400" b="1" dirty="0">
                <a:solidFill>
                  <a:srgbClr val="29D3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Galera Pro</a:t>
            </a:r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vende pra quem já tem público dentro do app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48640" y="58978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9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Pitch deck · rodada pré-seed · julho 2026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7985455" y="58978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C9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gabsdias6@gmail.com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5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84632"/>
            <a:ext cx="1109441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PROBLEMA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13816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0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Duas dores, um produto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18608" cy="3977640"/>
          </a:xfrm>
          <a:prstGeom prst="roundRect">
            <a:avLst>
              <a:gd name="adj" fmla="val 32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B103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920240"/>
            <a:ext cx="566928" cy="566928"/>
          </a:xfrm>
          <a:prstGeom prst="ellipse">
            <a:avLst/>
          </a:prstGeom>
          <a:solidFill>
            <a:srgbClr val="FF5A72"/>
          </a:solidFill>
          <a:ln/>
        </p:spPr>
      </p:sp>
      <p:pic>
        <p:nvPicPr>
          <p:cNvPr id="6" name="Image 0" descr="/tmp/claude-0/-home-user-galera-app/c1dfc6eb-4bae-5544-82a6-63e27d7dd9c7/scratchpad/deck/icons/comm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6711" y="1988271"/>
            <a:ext cx="430865" cy="43086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1965960"/>
            <a:ext cx="40384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10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 quem convida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868680" y="2606040"/>
            <a:ext cx="4678528" cy="2697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1B1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Confirmação vira arqueologia de scroll no grupo do WhatsApp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1B1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Adicionar gente nova expõe o número de todo mundo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1B1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enquete some no histórico em duas horas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1B1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Depois da festa, o anfitrião não sabe nem quantos foram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6324448" y="1600200"/>
            <a:ext cx="5318608" cy="3977640"/>
          </a:xfrm>
          <a:prstGeom prst="roundRect">
            <a:avLst>
              <a:gd name="adj" fmla="val 32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B1030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644488" y="1920240"/>
            <a:ext cx="566928" cy="566928"/>
          </a:xfrm>
          <a:prstGeom prst="ellipse">
            <a:avLst/>
          </a:prstGeom>
          <a:solidFill>
            <a:srgbClr val="8B6FF0"/>
          </a:solidFill>
          <a:ln/>
        </p:spPr>
      </p:sp>
      <p:pic>
        <p:nvPicPr>
          <p:cNvPr id="11" name="Image 1" descr="/tmp/claude-0/-home-user-galera-app/c1dfc6eb-4bae-5544-82a6-63e27d7dd9c7/scratchpad/deck/icons/use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2519" y="1988271"/>
            <a:ext cx="430865" cy="43086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376008" y="1965960"/>
            <a:ext cx="40384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10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 quem organiza como negócio</a:t>
            </a:r>
            <a:endParaRPr lang="en-US" sz="1900" dirty="0"/>
          </a:p>
        </p:txBody>
      </p:sp>
      <p:sp>
        <p:nvSpPr>
          <p:cNvPr id="13" name="Text 9"/>
          <p:cNvSpPr/>
          <p:nvPr/>
        </p:nvSpPr>
        <p:spPr>
          <a:xfrm>
            <a:off x="6644488" y="2606040"/>
            <a:ext cx="4678528" cy="2697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1B1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 num Google Sheets e no WhatsApp do promoter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1B1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sabe quem já veio 3 vezes nem quanto cada um gastou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1B1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Dispara convite pra “todo mundo” e queima a base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1B1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Procura o nome numa planilha aberta no celular, na porta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548640" y="5806440"/>
            <a:ext cx="110944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1B10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ativo mais valioso da produtora — a relação com quem já pagou pra entrar — </a:t>
            </a:r>
            <a:pPr algn="ctr" indent="0" marL="0">
              <a:buNone/>
            </a:pPr>
            <a:r>
              <a:rPr lang="en-US" sz="1700" b="1" i="1" dirty="0">
                <a:solidFill>
                  <a:srgbClr val="E143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não está em lugar nenhum.</a:t>
            </a:r>
            <a:endParaRPr lang="en-US" sz="1700" dirty="0"/>
          </a:p>
        </p:txBody>
      </p:sp>
      <p:sp>
        <p:nvSpPr>
          <p:cNvPr id="15" name="Text 11"/>
          <p:cNvSpPr/>
          <p:nvPr/>
        </p:nvSpPr>
        <p:spPr>
          <a:xfrm>
            <a:off x="548640" y="6473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Galera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3809848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5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84632"/>
            <a:ext cx="1109441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SOLUÇÃO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13816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0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produto já existe — e roda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18608" cy="3429000"/>
          </a:xfrm>
          <a:prstGeom prst="roundRect">
            <a:avLst>
              <a:gd name="adj" fmla="val 37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B103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920240"/>
            <a:ext cx="566928" cy="566928"/>
          </a:xfrm>
          <a:prstGeom prst="ellipse">
            <a:avLst/>
          </a:prstGeom>
          <a:solidFill>
            <a:srgbClr val="FF5A72"/>
          </a:solidFill>
          <a:ln/>
        </p:spPr>
      </p:sp>
      <p:pic>
        <p:nvPicPr>
          <p:cNvPr id="6" name="Image 0" descr="/tmp/claude-0/-home-user-galera-app/c1dfc6eb-4bae-5544-82a6-63e27d7dd9c7/scratchpad/deck/icons/camer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6711" y="1988271"/>
            <a:ext cx="430865" cy="43086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1874520"/>
            <a:ext cx="40384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10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Galera (B2C)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1600200" y="2258568"/>
            <a:ext cx="1737360" cy="292608"/>
          </a:xfrm>
          <a:prstGeom prst="roundRect">
            <a:avLst>
              <a:gd name="adj" fmla="val 50000"/>
            </a:avLst>
          </a:prstGeom>
          <a:solidFill>
            <a:srgbClr val="29D398"/>
          </a:solidFill>
          <a:ln/>
        </p:spPr>
      </p:sp>
      <p:sp>
        <p:nvSpPr>
          <p:cNvPr id="9" name="Text 6"/>
          <p:cNvSpPr/>
          <p:nvPr/>
        </p:nvSpPr>
        <p:spPr>
          <a:xfrm>
            <a:off x="1600200" y="2258568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funcional e testado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868680" y="2743200"/>
            <a:ext cx="4678528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1B1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Convite bonito, RSVP, enquete, mural, álbum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1B1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Recap: imagem 1080×1920 pro Stories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1B1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Grátis pra sempre — é o canal de aquisição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324448" y="1600200"/>
            <a:ext cx="5318608" cy="3429000"/>
          </a:xfrm>
          <a:prstGeom prst="roundRect">
            <a:avLst>
              <a:gd name="adj" fmla="val 37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B1030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644488" y="1920240"/>
            <a:ext cx="566928" cy="566928"/>
          </a:xfrm>
          <a:prstGeom prst="ellipse">
            <a:avLst/>
          </a:prstGeom>
          <a:solidFill>
            <a:srgbClr val="8B6FF0"/>
          </a:solidFill>
          <a:ln/>
        </p:spPr>
      </p:sp>
      <p:pic>
        <p:nvPicPr>
          <p:cNvPr id="13" name="Image 1" descr="/tmp/claude-0/-home-user-galera-app/c1dfc6eb-4bae-5544-82a6-63e27d7dd9c7/scratchpad/deck/icons/char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2519" y="1988271"/>
            <a:ext cx="430865" cy="430865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376008" y="1874520"/>
            <a:ext cx="40384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10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Galera Pro (B2B)</a:t>
            </a:r>
            <a:endParaRPr lang="en-US" sz="1800" dirty="0"/>
          </a:p>
        </p:txBody>
      </p:sp>
      <p:sp>
        <p:nvSpPr>
          <p:cNvPr id="15" name="Shape 11"/>
          <p:cNvSpPr/>
          <p:nvPr/>
        </p:nvSpPr>
        <p:spPr>
          <a:xfrm>
            <a:off x="7376008" y="2258568"/>
            <a:ext cx="1737360" cy="292608"/>
          </a:xfrm>
          <a:prstGeom prst="roundRect">
            <a:avLst>
              <a:gd name="adj" fmla="val 50000"/>
            </a:avLst>
          </a:prstGeom>
          <a:solidFill>
            <a:srgbClr val="29D398"/>
          </a:solidFill>
          <a:ln/>
        </p:spPr>
      </p:sp>
      <p:sp>
        <p:nvSpPr>
          <p:cNvPr id="16" name="Text 12"/>
          <p:cNvSpPr/>
          <p:nvPr/>
        </p:nvSpPr>
        <p:spPr>
          <a:xfrm>
            <a:off x="7376008" y="2258568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funcional e testado</a:t>
            </a:r>
            <a:endParaRPr lang="en-US" sz="1050" dirty="0"/>
          </a:p>
        </p:txBody>
      </p:sp>
      <p:sp>
        <p:nvSpPr>
          <p:cNvPr id="17" name="Text 13"/>
          <p:cNvSpPr/>
          <p:nvPr/>
        </p:nvSpPr>
        <p:spPr>
          <a:xfrm>
            <a:off x="6644488" y="2743200"/>
            <a:ext cx="4678528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1B1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de público de 0 a 100 por rentabilidade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1B1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Campanha via WhatsApp com link rastreável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1B1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Promoters com comissão + portaria com QR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548640" y="5349240"/>
            <a:ext cx="345429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43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70+</a:t>
            </a:r>
            <a:endParaRPr lang="en-US" sz="3000" dirty="0"/>
          </a:p>
        </p:txBody>
      </p:sp>
      <p:sp>
        <p:nvSpPr>
          <p:cNvPr id="19" name="Text 15"/>
          <p:cNvSpPr/>
          <p:nvPr/>
        </p:nvSpPr>
        <p:spPr>
          <a:xfrm>
            <a:off x="548640" y="5916168"/>
            <a:ext cx="345429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testes automatizados</a:t>
            </a:r>
            <a:endParaRPr lang="en-US" sz="1150" dirty="0"/>
          </a:p>
        </p:txBody>
      </p:sp>
      <p:sp>
        <p:nvSpPr>
          <p:cNvPr id="20" name="Text 16"/>
          <p:cNvSpPr/>
          <p:nvPr/>
        </p:nvSpPr>
        <p:spPr>
          <a:xfrm>
            <a:off x="4368698" y="5349240"/>
            <a:ext cx="345429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43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000" dirty="0"/>
          </a:p>
        </p:txBody>
      </p:sp>
      <p:sp>
        <p:nvSpPr>
          <p:cNvPr id="21" name="Text 17"/>
          <p:cNvSpPr/>
          <p:nvPr/>
        </p:nvSpPr>
        <p:spPr>
          <a:xfrm>
            <a:off x="4368698" y="5916168"/>
            <a:ext cx="345429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backends: local e Supabase</a:t>
            </a:r>
            <a:endParaRPr lang="en-US" sz="1150" dirty="0"/>
          </a:p>
        </p:txBody>
      </p:sp>
      <p:sp>
        <p:nvSpPr>
          <p:cNvPr id="22" name="Text 18"/>
          <p:cNvSpPr/>
          <p:nvPr/>
        </p:nvSpPr>
        <p:spPr>
          <a:xfrm>
            <a:off x="8188757" y="5349240"/>
            <a:ext cx="345429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43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3000" dirty="0"/>
          </a:p>
        </p:txBody>
      </p:sp>
      <p:sp>
        <p:nvSpPr>
          <p:cNvPr id="23" name="Text 19"/>
          <p:cNvSpPr/>
          <p:nvPr/>
        </p:nvSpPr>
        <p:spPr>
          <a:xfrm>
            <a:off x="8188757" y="5916168"/>
            <a:ext cx="345429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 offline no modo local</a:t>
            </a:r>
            <a:endParaRPr lang="en-US" sz="1150" dirty="0"/>
          </a:p>
        </p:txBody>
      </p:sp>
      <p:sp>
        <p:nvSpPr>
          <p:cNvPr id="24" name="Text 20"/>
          <p:cNvSpPr/>
          <p:nvPr/>
        </p:nvSpPr>
        <p:spPr>
          <a:xfrm>
            <a:off x="548640" y="6473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Galera</a:t>
            </a:r>
            <a:endParaRPr lang="en-US" sz="900" dirty="0"/>
          </a:p>
        </p:txBody>
      </p:sp>
      <p:sp>
        <p:nvSpPr>
          <p:cNvPr id="25" name="Text 21"/>
          <p:cNvSpPr/>
          <p:nvPr/>
        </p:nvSpPr>
        <p:spPr>
          <a:xfrm>
            <a:off x="3809848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900" dirty="0"/>
          </a:p>
        </p:txBody>
      </p:sp>
      <p:sp>
        <p:nvSpPr>
          <p:cNvPr id="26" name="Text 22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5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84632"/>
            <a:ext cx="1109441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O LOOP FECHA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13816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0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convidado de hoje é o cliente de amanhã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533574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B103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31963" y="1947672"/>
            <a:ext cx="566928" cy="566928"/>
          </a:xfrm>
          <a:prstGeom prst="ellipse">
            <a:avLst/>
          </a:prstGeom>
          <a:solidFill>
            <a:srgbClr val="FF5A72"/>
          </a:solidFill>
          <a:ln/>
        </p:spPr>
      </p:sp>
      <p:pic>
        <p:nvPicPr>
          <p:cNvPr id="6" name="Image 0" descr="/tmp/claude-0/-home-user-galera-app/c1dfc6eb-4bae-5544-82a6-63e27d7dd9c7/scratchpad/deck/icons/rock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99994" y="2015703"/>
            <a:ext cx="430865" cy="43086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2651760"/>
            <a:ext cx="225925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B10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Anfitrião cria o rolê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685800" y="3200400"/>
            <a:ext cx="225925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Grátis, sem fricção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3082214" y="2400300"/>
            <a:ext cx="320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3402254" y="1691640"/>
            <a:ext cx="2533574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B1030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385577" y="1947672"/>
            <a:ext cx="566928" cy="566928"/>
          </a:xfrm>
          <a:prstGeom prst="ellipse">
            <a:avLst/>
          </a:prstGeom>
          <a:solidFill>
            <a:srgbClr val="E3A916"/>
          </a:solidFill>
          <a:ln/>
        </p:spPr>
      </p:sp>
      <p:pic>
        <p:nvPicPr>
          <p:cNvPr id="12" name="Image 1" descr="/tmp/claude-0/-home-user-galera-app/c1dfc6eb-4bae-5544-82a6-63e27d7dd9c7/scratchpad/deck/icons/comme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3608" y="2015703"/>
            <a:ext cx="430865" cy="430865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539414" y="2651760"/>
            <a:ext cx="225925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B10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Convidados confirmam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3539414" y="3200400"/>
            <a:ext cx="225925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RSVP + enquete + mural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5935828" y="2400300"/>
            <a:ext cx="320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6" name="Shape 12"/>
          <p:cNvSpPr/>
          <p:nvPr/>
        </p:nvSpPr>
        <p:spPr>
          <a:xfrm>
            <a:off x="6255868" y="1691640"/>
            <a:ext cx="2533574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B1030">
                <a:alpha val="1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7239191" y="1947672"/>
            <a:ext cx="566928" cy="566928"/>
          </a:xfrm>
          <a:prstGeom prst="ellipse">
            <a:avLst/>
          </a:prstGeom>
          <a:solidFill>
            <a:srgbClr val="8B6FF0"/>
          </a:solidFill>
          <a:ln/>
        </p:spPr>
      </p:sp>
      <p:pic>
        <p:nvPicPr>
          <p:cNvPr id="18" name="Image 2" descr="/tmp/claude-0/-home-user-galera-app/c1dfc6eb-4bae-5544-82a6-63e27d7dd9c7/scratchpad/deck/icons/camera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7222" y="2015703"/>
            <a:ext cx="430865" cy="430865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393028" y="2651760"/>
            <a:ext cx="225925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B10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Recap vai pro Stories</a:t>
            </a:r>
            <a:endParaRPr lang="en-US" sz="1350" dirty="0"/>
          </a:p>
        </p:txBody>
      </p:sp>
      <p:sp>
        <p:nvSpPr>
          <p:cNvPr id="20" name="Text 15"/>
          <p:cNvSpPr/>
          <p:nvPr/>
        </p:nvSpPr>
        <p:spPr>
          <a:xfrm>
            <a:off x="6393028" y="3200400"/>
            <a:ext cx="225925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a marca Galera</a:t>
            </a:r>
            <a:endParaRPr lang="en-US" sz="1050" dirty="0"/>
          </a:p>
        </p:txBody>
      </p:sp>
      <p:sp>
        <p:nvSpPr>
          <p:cNvPr id="21" name="Text 16"/>
          <p:cNvSpPr/>
          <p:nvPr/>
        </p:nvSpPr>
        <p:spPr>
          <a:xfrm>
            <a:off x="8789441" y="2400300"/>
            <a:ext cx="320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2" name="Shape 17"/>
          <p:cNvSpPr/>
          <p:nvPr/>
        </p:nvSpPr>
        <p:spPr>
          <a:xfrm>
            <a:off x="9109481" y="1691640"/>
            <a:ext cx="2533574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B1030">
                <a:alpha val="18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10092804" y="1947672"/>
            <a:ext cx="566928" cy="566928"/>
          </a:xfrm>
          <a:prstGeom prst="ellipse">
            <a:avLst/>
          </a:prstGeom>
          <a:solidFill>
            <a:srgbClr val="29D398"/>
          </a:solidFill>
          <a:ln/>
        </p:spPr>
      </p:sp>
      <p:pic>
        <p:nvPicPr>
          <p:cNvPr id="24" name="Image 3" descr="/tmp/claude-0/-home-user-galera-app/c1dfc6eb-4bae-5544-82a6-63e27d7dd9c7/scratchpad/deck/icons/user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60836" y="2015703"/>
            <a:ext cx="430865" cy="430865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9246641" y="2651760"/>
            <a:ext cx="225925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B10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Quem vê vira anfitrião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1B10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 produtora paga</a:t>
            </a:r>
            <a:endParaRPr lang="en-US" sz="1350" dirty="0"/>
          </a:p>
        </p:txBody>
      </p:sp>
      <p:sp>
        <p:nvSpPr>
          <p:cNvPr id="26" name="Text 20"/>
          <p:cNvSpPr/>
          <p:nvPr/>
        </p:nvSpPr>
        <p:spPr>
          <a:xfrm>
            <a:off x="9246641" y="3200400"/>
            <a:ext cx="225925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K-factor + venda B2B</a:t>
            </a:r>
            <a:endParaRPr lang="en-US" sz="1050" dirty="0"/>
          </a:p>
        </p:txBody>
      </p:sp>
      <p:sp>
        <p:nvSpPr>
          <p:cNvPr id="27" name="Shape 21"/>
          <p:cNvSpPr/>
          <p:nvPr/>
        </p:nvSpPr>
        <p:spPr>
          <a:xfrm>
            <a:off x="548640" y="4023360"/>
            <a:ext cx="11094415" cy="1508760"/>
          </a:xfrm>
          <a:prstGeom prst="roundRect">
            <a:avLst>
              <a:gd name="adj" fmla="val 8485"/>
            </a:avLst>
          </a:prstGeom>
          <a:solidFill>
            <a:srgbClr val="1B1030"/>
          </a:solidFill>
          <a:ln/>
          <a:effectLst>
            <a:outerShdw sx="100000" sy="100000" kx="0" ky="0" algn="bl" rotWithShape="0" blurRad="127000" dist="38100" dir="5400000">
              <a:srgbClr val="1B1030">
                <a:alpha val="18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868680" y="4343400"/>
            <a:ext cx="566928" cy="566928"/>
          </a:xfrm>
          <a:prstGeom prst="ellipse">
            <a:avLst/>
          </a:prstGeom>
          <a:solidFill>
            <a:srgbClr val="FFC94D"/>
          </a:solidFill>
          <a:ln/>
        </p:spPr>
      </p:sp>
      <p:pic>
        <p:nvPicPr>
          <p:cNvPr id="29" name="Image 4" descr="/tmp/claude-0/-home-user-galera-app/c1dfc6eb-4bae-5544-82a6-63e27d7dd9c7/scratchpad/deck/icons/bulb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6711" y="4411431"/>
            <a:ext cx="430865" cy="430865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1645920" y="4224528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diferencial defensável: o motor de audiência</a:t>
            </a:r>
            <a:endParaRPr lang="en-US" sz="1500" dirty="0"/>
          </a:p>
        </p:txBody>
      </p:sp>
      <p:sp>
        <p:nvSpPr>
          <p:cNvPr id="31" name="Text 24"/>
          <p:cNvSpPr/>
          <p:nvPr/>
        </p:nvSpPr>
        <p:spPr>
          <a:xfrm>
            <a:off x="1645920" y="4617720"/>
            <a:ext cx="9722815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Pontua cada pessoa de 0 a 100 por receita, frequência, comparecimento, recência e indicações — e projeta presença pela taxa histórica individual, não pelo preço cheio multiplicado por gente.</a:t>
            </a:r>
            <a:endParaRPr lang="en-US" sz="1250" dirty="0"/>
          </a:p>
        </p:txBody>
      </p:sp>
      <p:sp>
        <p:nvSpPr>
          <p:cNvPr id="32" name="Text 25"/>
          <p:cNvSpPr/>
          <p:nvPr/>
        </p:nvSpPr>
        <p:spPr>
          <a:xfrm>
            <a:off x="548640" y="6473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Galera</a:t>
            </a:r>
            <a:endParaRPr lang="en-US" sz="900" dirty="0"/>
          </a:p>
        </p:txBody>
      </p:sp>
      <p:sp>
        <p:nvSpPr>
          <p:cNvPr id="33" name="Text 26"/>
          <p:cNvSpPr/>
          <p:nvPr/>
        </p:nvSpPr>
        <p:spPr>
          <a:xfrm>
            <a:off x="3809848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900" dirty="0"/>
          </a:p>
        </p:txBody>
      </p:sp>
      <p:sp>
        <p:nvSpPr>
          <p:cNvPr id="34" name="Text 27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5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84632"/>
            <a:ext cx="1109441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MERCADO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13816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0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Não inventamos um TAM redondo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094415" cy="1188720"/>
          </a:xfrm>
          <a:prstGeom prst="roundRect">
            <a:avLst>
              <a:gd name="adj" fmla="val 10769"/>
            </a:avLst>
          </a:prstGeom>
          <a:solidFill>
            <a:srgbClr val="FF5A72"/>
          </a:solidFill>
          <a:ln/>
          <a:effectLst>
            <a:outerShdw sx="100000" sy="100000" kx="0" ky="0" algn="bl" rotWithShape="0" blurRad="127000" dist="38100" dir="5400000">
              <a:srgbClr val="1B103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05840" y="16916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 declarado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05840" y="2011680"/>
            <a:ext cx="1018001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 produtoras pagantes na Grande São Paulo em 18 meses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48640" y="3063240"/>
            <a:ext cx="3454298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B103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04672" y="3319272"/>
            <a:ext cx="502920" cy="502920"/>
          </a:xfrm>
          <a:prstGeom prst="ellipse">
            <a:avLst/>
          </a:prstGeom>
          <a:solidFill>
            <a:srgbClr val="8B6FF0"/>
          </a:solidFill>
          <a:ln/>
        </p:spPr>
      </p:sp>
      <p:pic>
        <p:nvPicPr>
          <p:cNvPr id="9" name="Image 0" descr="/tmp/claude-0/-home-user-galera-app/c1dfc6eb-4bae-5544-82a6-63e27d7dd9c7/scratchpad/deck/icons/li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5022" y="3379622"/>
            <a:ext cx="382219" cy="382219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04672" y="3931920"/>
            <a:ext cx="294223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0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Estabelecimentos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804672" y="4434840"/>
            <a:ext cx="2942234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CNPJs ativos em CNAEs de bar com entretenimento e produção de eventos, dados abertos da Receita Federal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4368698" y="3063240"/>
            <a:ext cx="3454298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B1030">
                <a:alpha val="1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624730" y="3319272"/>
            <a:ext cx="502920" cy="502920"/>
          </a:xfrm>
          <a:prstGeom prst="ellipse">
            <a:avLst/>
          </a:prstGeom>
          <a:solidFill>
            <a:srgbClr val="8B6FF0"/>
          </a:solidFill>
          <a:ln/>
        </p:spPr>
      </p:sp>
      <p:pic>
        <p:nvPicPr>
          <p:cNvPr id="14" name="Image 1" descr="/tmp/claude-0/-home-user-galera-app/c1dfc6eb-4bae-5544-82a6-63e27d7dd9c7/scratchpad/deck/icons/pi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5081" y="3379622"/>
            <a:ext cx="382219" cy="382219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624730" y="3931920"/>
            <a:ext cx="294223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0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Produtoras informais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4624730" y="4434840"/>
            <a:ext cx="2942234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Perfis de Instagram que publicaram evento nos últimos 90 dias em SP/Campinas/Ribeirão, por hashtag e geolocalização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8188757" y="3063240"/>
            <a:ext cx="3454298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B1030">
                <a:alpha val="18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8444789" y="3319272"/>
            <a:ext cx="502920" cy="502920"/>
          </a:xfrm>
          <a:prstGeom prst="ellipse">
            <a:avLst/>
          </a:prstGeom>
          <a:solidFill>
            <a:srgbClr val="8B6FF0"/>
          </a:solidFill>
          <a:ln/>
        </p:spPr>
      </p:sp>
      <p:pic>
        <p:nvPicPr>
          <p:cNvPr id="19" name="Image 2" descr="/tmp/claude-0/-home-user-galera-app/c1dfc6eb-4bae-5544-82a6-63e27d7dd9c7/scratchpad/deck/icons/targe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5139" y="3379622"/>
            <a:ext cx="382219" cy="382219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444789" y="3931920"/>
            <a:ext cx="294223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0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Validação de disposição a pagar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8444789" y="4434840"/>
            <a:ext cx="2942234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conversas antes de qualquer linha de código nova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548640" y="5669280"/>
            <a:ext cx="110944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6B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alvo inicial não é “o mercado brasileiro de eventos” — é a produtora universitária e o coletivo da Grande SP que faz ao menos 1 evento/mês.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548640" y="6473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Galera</a:t>
            </a:r>
            <a:endParaRPr lang="en-US" sz="900" dirty="0"/>
          </a:p>
        </p:txBody>
      </p:sp>
      <p:sp>
        <p:nvSpPr>
          <p:cNvPr id="24" name="Text 19"/>
          <p:cNvSpPr/>
          <p:nvPr/>
        </p:nvSpPr>
        <p:spPr>
          <a:xfrm>
            <a:off x="3809848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900" dirty="0"/>
          </a:p>
        </p:txBody>
      </p:sp>
      <p:sp>
        <p:nvSpPr>
          <p:cNvPr id="25" name="Text 20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5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84632"/>
            <a:ext cx="1109441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CONCORRÊNCIA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13816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0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espaço não é vazio — e está bem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87188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B103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783080"/>
            <a:ext cx="48385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0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Sympla / Eventbrite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194560"/>
            <a:ext cx="4838548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29D3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Faz bem: </a:t>
            </a:r>
            <a:pPr indent="0" marL="0">
              <a:buNone/>
            </a:pPr>
            <a:r>
              <a:rPr lang="en-US" sz="1150" dirty="0">
                <a:solidFill>
                  <a:srgbClr val="1B1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Ticketing com marca e confiança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822960" y="2651760"/>
            <a:ext cx="483854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E143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Brecha: </a:t>
            </a:r>
            <a:pPr indent="0" marL="0">
              <a:buNone/>
            </a:pPr>
            <a:r>
              <a:rPr lang="en-US" sz="1150" dirty="0">
                <a:solidFill>
                  <a:srgbClr val="1B1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caixa registradora, não CRM — não ajuda a encher a casa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255868" y="1600200"/>
            <a:ext cx="5387188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B103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530188" y="1783080"/>
            <a:ext cx="48385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0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VipMe, REVO, Powerlist...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530188" y="2194560"/>
            <a:ext cx="4838548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29D3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Faz bem: </a:t>
            </a:r>
            <a:pPr indent="0" marL="0">
              <a:buNone/>
            </a:pPr>
            <a:r>
              <a:rPr lang="en-US" sz="1150" dirty="0">
                <a:solidFill>
                  <a:srgbClr val="1B1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Lista, portaria, QR, ranking de promoter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530188" y="2651760"/>
            <a:ext cx="483854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E143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Brecha: </a:t>
            </a:r>
            <a:pPr indent="0" marL="0">
              <a:buNone/>
            </a:pPr>
            <a:r>
              <a:rPr lang="en-US" sz="1150" dirty="0">
                <a:solidFill>
                  <a:srgbClr val="1B1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Vendem porta a porta: zero distribuição no convidado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3474720"/>
            <a:ext cx="5387188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B103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22960" y="3657600"/>
            <a:ext cx="48385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0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Partiful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22960" y="4069080"/>
            <a:ext cx="4838548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29D3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Faz bem: </a:t>
            </a:r>
            <a:pPr indent="0" marL="0">
              <a:buNone/>
            </a:pPr>
            <a:r>
              <a:rPr lang="en-US" sz="1150" dirty="0">
                <a:solidFill>
                  <a:srgbClr val="1B1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convite bonito que inspirou isto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22960" y="4526280"/>
            <a:ext cx="483854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E143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Brecha: </a:t>
            </a:r>
            <a:pPr indent="0" marL="0">
              <a:buNone/>
            </a:pPr>
            <a:r>
              <a:rPr lang="en-US" sz="1150" dirty="0">
                <a:solidFill>
                  <a:srgbClr val="1B1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Brasil, sem PIX, sem promoter, sem portaria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255868" y="3474720"/>
            <a:ext cx="5387188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B103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530188" y="3657600"/>
            <a:ext cx="48385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0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Grupo de WhatsApp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530188" y="4069080"/>
            <a:ext cx="4838548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29D3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Faz bem: </a:t>
            </a:r>
            <a:pPr indent="0" marL="0">
              <a:buNone/>
            </a:pPr>
            <a:r>
              <a:rPr lang="en-US" sz="1150" dirty="0">
                <a:solidFill>
                  <a:srgbClr val="1B1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Grátis, todo mundo já está lá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530188" y="4526280"/>
            <a:ext cx="483854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E143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Brecha: </a:t>
            </a:r>
            <a:pPr indent="0" marL="0">
              <a:buNone/>
            </a:pPr>
            <a:r>
              <a:rPr lang="en-US" sz="1150" dirty="0">
                <a:solidFill>
                  <a:srgbClr val="1B1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gera artefato compartilhável nem nenhum dado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48640" y="5257800"/>
            <a:ext cx="110944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143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Nosso lugar: somos o único que entra pelo convidado e sobe pro organizador.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48640" y="6473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Galera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809848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5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84632"/>
            <a:ext cx="1109441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RECEITA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13816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0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Quatro linhas, uma principal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87188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B103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874520"/>
            <a:ext cx="502920" cy="502920"/>
          </a:xfrm>
          <a:prstGeom prst="ellipse">
            <a:avLst/>
          </a:prstGeom>
          <a:solidFill>
            <a:srgbClr val="FF5A72"/>
          </a:solidFill>
          <a:ln/>
        </p:spPr>
      </p:sp>
      <p:pic>
        <p:nvPicPr>
          <p:cNvPr id="6" name="Image 0" descr="/tmp/claude-0/-home-user-galera-app/c1dfc6eb-4bae-5544-82a6-63e27d7dd9c7/scratchpad/deck/icons/mone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3310" y="1934870"/>
            <a:ext cx="382219" cy="38221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856232"/>
            <a:ext cx="419846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B10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Assinatura Pro — principal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822960" y="2468880"/>
            <a:ext cx="4838548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 Coletivo R$ 129/mês · Pro Casa R$ 349/mês. Preço mira abaixo do custo de um promoter.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255868" y="1600200"/>
            <a:ext cx="5387188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B1030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30188" y="1874520"/>
            <a:ext cx="502920" cy="502920"/>
          </a:xfrm>
          <a:prstGeom prst="ellipse">
            <a:avLst/>
          </a:prstGeom>
          <a:solidFill>
            <a:srgbClr val="29D398"/>
          </a:solidFill>
          <a:ln/>
        </p:spPr>
      </p:sp>
      <p:pic>
        <p:nvPicPr>
          <p:cNvPr id="11" name="Image 1" descr="/tmp/claude-0/-home-user-galera-app/c1dfc6eb-4bae-5544-82a6-63e27d7dd9c7/scratchpad/deck/icons/whatsap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0538" y="1934870"/>
            <a:ext cx="382219" cy="38221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170268" y="1856232"/>
            <a:ext cx="419846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B10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Mensagens — margem sobre custo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6530188" y="2468880"/>
            <a:ext cx="4838548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R$ 0,49 cobrado por mensagem de campanha vs. R$ 0,35 de custo Meta.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48640" y="3749040"/>
            <a:ext cx="5387188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B1030">
                <a:alpha val="1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22960" y="4023360"/>
            <a:ext cx="502920" cy="502920"/>
          </a:xfrm>
          <a:prstGeom prst="ellipse">
            <a:avLst/>
          </a:prstGeom>
          <a:solidFill>
            <a:srgbClr val="8B6FF0"/>
          </a:solidFill>
          <a:ln/>
        </p:spPr>
      </p:sp>
      <p:pic>
        <p:nvPicPr>
          <p:cNvPr id="16" name="Image 2" descr="/tmp/claude-0/-home-user-galera-app/c1dfc6eb-4bae-5544-82a6-63e27d7dd9c7/scratchpad/deck/icons/handshak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3310" y="4083710"/>
            <a:ext cx="382219" cy="382219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463040" y="4005072"/>
            <a:ext cx="419846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B10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Transação — fase 2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822960" y="4617720"/>
            <a:ext cx="4838548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~2% sobre vaquinha PIX e venda de ingresso, só depois de integrar um PSP.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255868" y="3749040"/>
            <a:ext cx="5387188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B1030">
                <a:alpha val="1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530188" y="4023360"/>
            <a:ext cx="502920" cy="502920"/>
          </a:xfrm>
          <a:prstGeom prst="ellipse">
            <a:avLst/>
          </a:prstGeom>
          <a:solidFill>
            <a:srgbClr val="E3A916"/>
          </a:solidFill>
          <a:ln/>
        </p:spPr>
      </p:sp>
      <p:pic>
        <p:nvPicPr>
          <p:cNvPr id="21" name="Image 3" descr="/tmp/claude-0/-home-user-galera-app/c1dfc6eb-4bae-5544-82a6-63e27d7dd9c7/scratchpad/deck/icons/targe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0538" y="4083710"/>
            <a:ext cx="382219" cy="382219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170268" y="4005072"/>
            <a:ext cx="419846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B10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 Patrocínio — fase 3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6530188" y="4617720"/>
            <a:ext cx="4838548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Marca patrocina a enquete ou o tema do Recap. Só com volume alto.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548640" y="580644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Nunca cobrar do lado B2C: é o canal de aquisição, não uma linha de receita.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548640" y="6473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Galera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3809848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5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84632"/>
            <a:ext cx="1109441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ECONOMICS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13816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0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conta fecha com folga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15258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B103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764792"/>
            <a:ext cx="314949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143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R$ 229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31520" y="2404872"/>
            <a:ext cx="314949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ARPU esperado / conta / mês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338218" y="1600200"/>
            <a:ext cx="3515258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B103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21098" y="1764792"/>
            <a:ext cx="314949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143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&gt; 90%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4521098" y="2404872"/>
            <a:ext cx="314949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margem bruta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8127797" y="1600200"/>
            <a:ext cx="3515258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B103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310677" y="1764792"/>
            <a:ext cx="314949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143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6%/mês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8310677" y="2404872"/>
            <a:ext cx="314949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(suposição de trabalho, alta de propósito)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48640" y="3246120"/>
            <a:ext cx="3515258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B103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31520" y="3410712"/>
            <a:ext cx="314949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143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R$ 3.800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731520" y="4050792"/>
            <a:ext cx="314949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LTV por conta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338218" y="3246120"/>
            <a:ext cx="3515258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B103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521098" y="3410712"/>
            <a:ext cx="314949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143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R$ 0–800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4521098" y="4050792"/>
            <a:ext cx="314949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 (fundador-a-fundador → com vendedor)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8127797" y="3246120"/>
            <a:ext cx="3515258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B103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310677" y="3410712"/>
            <a:ext cx="314949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143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R$ 215/mês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8310677" y="4050792"/>
            <a:ext cx="314949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 fixo total pra operar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48640" y="4892040"/>
            <a:ext cx="11094415" cy="960120"/>
          </a:xfrm>
          <a:prstGeom prst="roundRect">
            <a:avLst>
              <a:gd name="adj" fmla="val 11429"/>
            </a:avLst>
          </a:prstGeom>
          <a:solidFill>
            <a:srgbClr val="1B1030"/>
          </a:solidFill>
          <a:ln/>
          <a:effectLst>
            <a:outerShdw sx="100000" sy="100000" kx="0" ky="0" algn="bl" rotWithShape="0" blurRad="127000" dist="38100" dir="5400000">
              <a:srgbClr val="1B1030">
                <a:alpha val="1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868680" y="5001768"/>
            <a:ext cx="1045433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C9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conta que fecha a venda: </a:t>
            </a:r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convites de campanha custam R$ 70 e são cobrados R$ 98 — geram ~60 presenças e R$ 4.200 pra produtora. Isso é 2,3% de custo sobre a receita gerada, contra 10%+ de uma ticketeira tradicional.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48640" y="6473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Galera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809848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5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84632"/>
            <a:ext cx="1109441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TRAÇÃO E MARCOS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13816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0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Onde estamos, pra onde vamos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109441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9D3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Hoje: </a:t>
            </a:r>
            <a:pPr indent="0" marL="0">
              <a:buNone/>
            </a:pPr>
            <a:r>
              <a:rPr lang="en-US" sz="1300" dirty="0">
                <a:solidFill>
                  <a:srgbClr val="1B1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produto funcional e testado nas duas pontas (B2C e Pro), dois backends, fluxos verificados ponta a ponta. Falta abrir a operação (docs/startup/) e rodar os primeiros pilotos reais.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874520" y="2423160"/>
            <a:ext cx="0" cy="3456432"/>
          </a:xfrm>
          <a:prstGeom prst="line">
            <a:avLst/>
          </a:prstGeom>
          <a:noFill/>
          <a:ln w="25400">
            <a:solidFill>
              <a:srgbClr val="D9D3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691640" y="2331720"/>
            <a:ext cx="365760" cy="365760"/>
          </a:xfrm>
          <a:prstGeom prst="ellipse">
            <a:avLst/>
          </a:prstGeom>
          <a:solidFill>
            <a:srgbClr val="8B6FF0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2231136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1B10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Mês 1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2331720" y="2231136"/>
            <a:ext cx="931133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no ar, P0 fechado, 3 rolês reais de amigos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1691640" y="2953512"/>
            <a:ext cx="365760" cy="365760"/>
          </a:xfrm>
          <a:prstGeom prst="ellipse">
            <a:avLst/>
          </a:prstGeom>
          <a:solidFill>
            <a:srgbClr val="8B6FF0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852928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1B10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Mês 2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2331720" y="2852928"/>
            <a:ext cx="931133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rolês reais, Recap instrumentado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1691640" y="3575304"/>
            <a:ext cx="365760" cy="365760"/>
          </a:xfrm>
          <a:prstGeom prst="ellipse">
            <a:avLst/>
          </a:prstGeom>
          <a:solidFill>
            <a:srgbClr val="8B6FF0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47472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1B10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Mês 3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2331720" y="3474720"/>
            <a:ext cx="931133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1ª produtora piloto usando a portaria de verdade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1691640" y="4197096"/>
            <a:ext cx="365760" cy="365760"/>
          </a:xfrm>
          <a:prstGeom prst="ellipse">
            <a:avLst/>
          </a:prstGeom>
          <a:solidFill>
            <a:srgbClr val="FF5A72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4096512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1B10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Mês 4–6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2331720" y="4096512"/>
            <a:ext cx="931133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produtoras pagantes — primeiro MRR recorrente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1691640" y="4818888"/>
            <a:ext cx="365760" cy="365760"/>
          </a:xfrm>
          <a:prstGeom prst="ellipse">
            <a:avLst/>
          </a:prstGeom>
          <a:solidFill>
            <a:srgbClr val="FF5A72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4718304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1B10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Mês 6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2331720" y="4718304"/>
            <a:ext cx="931133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no TestFlight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691640" y="5440680"/>
            <a:ext cx="365760" cy="365760"/>
          </a:xfrm>
          <a:prstGeom prst="ellipse">
            <a:avLst/>
          </a:prstGeom>
          <a:solidFill>
            <a:srgbClr val="FF5A72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5340096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1B10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Mês 12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2331720" y="5340096"/>
            <a:ext cx="931133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Cenário base: 25 produtoras, MRR ~R$ 5,7 mil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48640" y="6473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Galera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809848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5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84632"/>
            <a:ext cx="1109441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PROJEÇÕES — 12 MESES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13816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0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Cenários, não previsões</a:t>
            </a:r>
            <a:endParaRPr lang="en-US" sz="3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554480"/>
          <a:ext cx="11094415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892040"/>
          <a:ext cx="11094415" cy="1371600"/>
        </p:xfrm>
        <a:graphic>
          <a:graphicData uri="http://schemas.openxmlformats.org/drawingml/2006/table">
            <a:tbl>
              <a:tblPr/>
              <a:tblGrid>
                <a:gridCol w="2773604"/>
                <a:gridCol w="2773604"/>
                <a:gridCol w="2773604"/>
                <a:gridCol w="2773604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0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Conservador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0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0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Otimista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0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Produtoras pagantes (mês 12)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0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0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0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0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K-factor implícito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0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0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0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548640" y="6473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Galera</a:t>
            </a:r>
            <a:endParaRPr lang="en-US" sz="900" dirty="0"/>
          </a:p>
        </p:txBody>
      </p:sp>
      <p:sp>
        <p:nvSpPr>
          <p:cNvPr id="7" name="Text 3"/>
          <p:cNvSpPr/>
          <p:nvPr/>
        </p:nvSpPr>
        <p:spPr>
          <a:xfrm>
            <a:off x="3809848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10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84632"/>
            <a:ext cx="1109441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13816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Quem constrói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11094415" cy="3291840"/>
          </a:xfrm>
          <a:prstGeom prst="roundRect">
            <a:avLst>
              <a:gd name="adj" fmla="val 3889"/>
            </a:avLst>
          </a:prstGeom>
          <a:solidFill>
            <a:srgbClr val="241640"/>
          </a:solidFill>
          <a:ln/>
          <a:effectLst>
            <a:outerShdw sx="100000" sy="100000" kx="0" ky="0" algn="bl" rotWithShape="0" blurRad="127000" dist="38100" dir="5400000">
              <a:srgbClr val="1B103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05840" y="1965960"/>
            <a:ext cx="1005840" cy="1005840"/>
          </a:xfrm>
          <a:prstGeom prst="ellipse">
            <a:avLst/>
          </a:prstGeom>
          <a:solidFill>
            <a:srgbClr val="FF5A72"/>
          </a:solidFill>
          <a:ln/>
        </p:spPr>
      </p:sp>
      <p:pic>
        <p:nvPicPr>
          <p:cNvPr id="6" name="Image 0" descr="/tmp/claude-0/-home-user-galera-app/c1dfc6eb-4bae-5544-82a6-63e27d7dd9c7/scratchpad/deck/icons/bol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6541" y="2086661"/>
            <a:ext cx="764438" cy="7644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286000" y="19659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Fundador(a) solo — full-stack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2286000" y="2514600"/>
            <a:ext cx="9082735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Construiu o produto ponta a ponta: front-end, dois backends (local e Supabase), suíte de testes automatizados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Escreveu o plano de negócio, o plano de marketing e a estrutura jurídica com a mesma disciplina do código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 complementar o time com a primeira contratação comercial — exatamente o que o aporte pedido financia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48640" y="52120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9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gabsdias6@gmail.com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48640" y="6473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Galera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3809848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10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48495" y="-1371600"/>
            <a:ext cx="4572000" cy="4572000"/>
          </a:xfrm>
          <a:prstGeom prst="ellipse">
            <a:avLst/>
          </a:prstGeom>
          <a:solidFill>
            <a:srgbClr val="FF5A72">
              <a:alpha val="12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84632"/>
            <a:ext cx="1109441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CAPTAÇÃO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813816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pedido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4206240" cy="1920240"/>
          </a:xfrm>
          <a:prstGeom prst="roundRect">
            <a:avLst>
              <a:gd name="adj" fmla="val 6667"/>
            </a:avLst>
          </a:prstGeom>
          <a:solidFill>
            <a:srgbClr val="FF5A72"/>
          </a:solidFill>
          <a:ln/>
          <a:effectLst>
            <a:outerShdw sx="100000" sy="100000" kx="0" ky="0" algn="bl" rotWithShape="0" blurRad="127000" dist="38100" dir="5400000">
              <a:srgbClr val="1B103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82880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R$ 150–250 mil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822960" y="251460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E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pré-seed enxuta, via mútuo conversível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120640" y="1600200"/>
            <a:ext cx="6522415" cy="1920240"/>
          </a:xfrm>
          <a:prstGeom prst="roundRect">
            <a:avLst>
              <a:gd name="adj" fmla="val 6667"/>
            </a:avLst>
          </a:prstGeom>
          <a:solidFill>
            <a:srgbClr val="241640"/>
          </a:solidFill>
          <a:ln/>
          <a:effectLst>
            <a:outerShdw sx="100000" sy="100000" kx="0" ky="0" algn="bl" rotWithShape="0" blurRad="127000" dist="38100" dir="5400000">
              <a:srgbClr val="1B103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394960" y="17830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C9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 quê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394960" y="2103120"/>
            <a:ext cx="5973775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Fundador em tempo integral + a primeira contratação comercial, por 12–15 meses de fôlego — o capital acelera o que o fundador sozinho não vende e constrói ao mesmo tempo.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48640" y="3794760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 table ilustrativo pós-conversão (cap R$ 4 mi, desconto 20%)</a:t>
            </a:r>
            <a:endParaRPr lang="en-US" sz="125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160520"/>
          <a:ext cx="11094415" cy="1234440"/>
        </p:xfrm>
        <a:graphic>
          <a:graphicData uri="http://schemas.openxmlformats.org/drawingml/2006/table">
            <a:tbl>
              <a:tblPr/>
              <a:tblGrid>
                <a:gridCol w="3698138"/>
                <a:gridCol w="3698138"/>
                <a:gridCol w="3698138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Quotista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A2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2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2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2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6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hoje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A2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2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2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2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6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pós-conversão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A2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2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2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2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64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Fundador(a)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A2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2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2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2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6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A2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2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2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2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6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~95%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A2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2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2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2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64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Investidor-anjo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A2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2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2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2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6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A2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2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2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2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6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~5%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A2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2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2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2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640"/>
                    </a:solidFill>
                  </a:tcPr>
                </a:tc>
              </a:tr>
            </a:tbl>
          </a:graphicData>
        </a:graphic>
      </p:graphicFrame>
      <p:sp>
        <p:nvSpPr>
          <p:cNvPr id="13" name="Text 10"/>
          <p:cNvSpPr/>
          <p:nvPr/>
        </p:nvSpPr>
        <p:spPr>
          <a:xfrm>
            <a:off x="548640" y="603504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C9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Vamos conversar: </a:t>
            </a:r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gabsdias6@gmail.com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2026-07-26T19:36:01Z</dcterms:created>
  <dcterms:modified xsi:type="dcterms:W3CDTF">2026-07-26T19:36:01Z</dcterms:modified>
</cp:coreProperties>
</file>